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64748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64748B"/>
                </a:solidFill>
                <a:latin typeface="Arial"/>
              </a:rPr>
              <a:t>Pretraga na sat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Pretraga na sat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4A3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F172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D6BF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Potrebno: 10.000 trkača
+ obitelji u 1. satu</c:v>
                  </c:pt>
                  <c:pt idx="1">
                    <c:v>Kapacitet danas</c:v>
                  </c:pt>
                  <c:pt idx="2">
                    <c:v>Kapacitet uz
optimizaciju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20000</c:v>
                </c:pt>
                <c:pt idx="1">
                  <c:v>40000</c:v>
                </c:pt>
                <c:pt idx="2">
                  <c:v>250000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Uvod. MarathonOCR je sustav koji trkačima omogućuje da u nekoliko sekundi pronađu sve svoje službene fotografije s utrke, samo upisom startnog broja. Danas ću pokazati kako radi, što nudi trkačima i organizatoru te koliko je spreman za dan utrke.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koji svi organizatori poznaju: fotografija je puno, a trkač ne želi prelistavati tisuće slika. Ručno označavanje traje danima. A jednostavno čitanje teksta s fotografije ne radi jer su startni brojevi sitni, zakrenuti i često djelomično zaklonjeni.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Rješenje je jednostavno za trkača: upiše svoj startni broj i odmah vidi profil sa svojim rezultatom i sve fotografije na kojima se nalazi. Nema registracije ni aplikacije za instalaciju — sve radi u pregledniku na mobitelu, gdje ga većina trkača i otvara odmah nakon utrke.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Postupak za organizatora: fotografi predaju fotografije kao i dosad. Sustav na računalu s grafičkom karticom automatski pronađe i pročita startne brojeve. Zatim operater brzo pregleda rezultate i ispravi eventualne pogreške. Na kraju se sve objavljuje zajedno sa službenim rezultatima.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Što trkač dobiva: profil s ciljnim vremenom, tempom i plasmanom, te sve svoje fotografije poredane po točkama na stazi — start, 10 km, polovica, cilj. Svaku fotografiju može otvoriti u punoj veličini i preuzeti. Stranica je dvojezična i u potpunosti prilagođena mobitelima.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 organizatora: stranica nosi ime i vizualni identitet utrke. Rezultati se uvoze iz CSV datoteke koju ionako dobivate od tvrtke za mjerenje vremena — sustav sam prepoznaje stupce. Tim ima alat za brzu kontrolu kvalitete, a sve se objavljuje jednim prekidačem kada ste spremni.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Nekoliko ključnih brojki. Točnost čitanja startnog broja je 98,5 posto kada dopustimo razliku od jedne znamenke — a sustav takva podudaranja jasno označava kao vjerojatna. Prepoznavanje za 20 tisuća fotografija traje oko 10 minuta na jednoj grafičkoj kartici. Galerija se otvara za manje od sekunde. I važno: ne koristimo prepoznavanje lica. Napomena: 98,5 % je mjereno na izrezanim startnim brojevima u testnom skupu.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Koliko ljudi sustav podnosi? Sama web stranica je statična i poslužuje se s Cloudflareove mreže, koja nema praktičnog ograničenja. Usko grlo je pretraga u bazi — testirali smo je na podacima velikog maratona: 10 tisuća trkača, 20 tisuća fotografija. Rezultat: oko 40 tisuća pretraga na sat, dvostruko više nego što treba ako svi trkači i njihove obitelji pretražuju u prvom satu. S jednom planiranom optimizacijom upita kapacitet raste oko šest puta. Prije dana utrke radimo i test opterećenja na produkcijskoj bazi.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Privatnost: ne koristimo prepoznavanje lica, nego samo startni broj. Osobni podaci trkača zaštićeni su pravilima u samoj bazi — nije moguće preuzeti popis trkača. Stranica koristi samo HTTPS i stroga sigurnosna zaglavlja. Pripremljeni su nacrti GDPR dokumentacije koje će vaš pravnik pregledati i dopuniti.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Tehnologija: provjereni alati otvorenog koda i upravljane usluge. Nema vlastitih poslužitelja koje treba održavati. Mjesečni trošak rada svodi se na oko 25 dolara za bazu i spremište fotografija; web stranica je besplatna, a obrada se radi lokalno.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Prijedlog sljedećih koraka: dogovor oko fotografa i izvoza rezultata, zatim priprema stranice pod vašim brendom, test prije dana utrke i objava. Sustav je funkcionalan već danas i mogu ga uživo pokazati.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Zahvala i poziv na pitanja. Ponuditi demonstraciju uživo i dogovor oko pilota.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image" Target="../media/image-3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jp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zg-hero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754880" y="0"/>
            <a:ext cx="7436815" cy="6858000"/>
          </a:xfrm>
          <a:prstGeom prst="rect">
            <a:avLst/>
          </a:prstGeom>
          <a:solidFill>
            <a:srgbClr val="0B1224">
              <a:alpha val="45000"/>
            </a:srgbClr>
          </a:solidFill>
          <a:ln w="12700">
            <a:solidFill>
              <a:srgbClr val="0B1224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MARATHONOCR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737360"/>
            <a:ext cx="5852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Svaki trkač.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Svaka fotografija.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nekoliko sekundi.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4348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Automatsko prepoznavanje startnih brojeva i pretraga službenih fotografija s utrke.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360920" y="2148840"/>
            <a:ext cx="35661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8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7589520" y="22860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ZAGREBAČKI MARATON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7589520" y="2697480"/>
            <a:ext cx="3108960" cy="1417320"/>
          </a:xfrm>
          <a:prstGeom prst="roundRect">
            <a:avLst>
              <a:gd name="adj" fmla="val 3871"/>
            </a:avLst>
          </a:prstGeom>
          <a:solidFill>
            <a:srgbClr val="0A0A0A"/>
          </a:solidFill>
          <a:ln w="19050">
            <a:solidFill>
              <a:srgbClr val="3D6B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589520" y="2697480"/>
            <a:ext cx="31089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1042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7589520" y="42062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42K  ·  MARATON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035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Cavor  ·  2026.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6858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Tisuće fotografija.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Nitko ih ne želi listati.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28346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33147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Ogromne galerije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velikoj utrci fotografi snime desetke tisuća fotografija. Trkač traži svojih desetak među njima.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28346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315468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33147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Ručno označavanje traje danima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461772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Upisivanje startnih brojeva za svaku fotografiju je sporo i skupo — a trkači fotografije žele odmah.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283464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66760" y="315468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331470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66760" y="393192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Običan OCR ne radi</a:t>
            </a:r>
            <a:endParaRPr lang="en-US" sz="18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46634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Startni broj je na fotografiji sitan (često ispod 20 piksela), zakrenut i zgužvan.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RJEŠENJE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Upiši startni broj.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 svoje fotografije.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3474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registracije, bez aplikacije, bez listanja. Trkač na mobitelu upiše broj koji je nosio i odmah dobiva svoju osobnu galeriju.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069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069080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Upiše broj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4727448"/>
            <a:ext cx="420624" cy="420624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7274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727448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Vidi rezultat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5385816"/>
            <a:ext cx="420624" cy="420624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5385816"/>
            <a:ext cx="3200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Pregleda i preuzme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462272" y="850392"/>
            <a:ext cx="2451935" cy="5157216"/>
          </a:xfrm>
          <a:prstGeom prst="roundRect">
            <a:avLst>
              <a:gd name="adj" fmla="val 74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5" name="Image 0" descr="img/m_search_fil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26280" y="914400"/>
            <a:ext cx="2323919" cy="5029200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7042223" y="850392"/>
            <a:ext cx="2451935" cy="5157216"/>
          </a:xfrm>
          <a:prstGeom prst="roundRect">
            <a:avLst>
              <a:gd name="adj" fmla="val 74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7" name="Image 1" descr="img/m_runner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6231" y="914400"/>
            <a:ext cx="2323919" cy="502920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622175" y="850392"/>
            <a:ext cx="2451935" cy="5157216"/>
          </a:xfrm>
          <a:prstGeom prst="roundRect">
            <a:avLst>
              <a:gd name="adj" fmla="val 74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9" name="Image 2" descr="img/m_gallery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183" y="914400"/>
            <a:ext cx="2323919" cy="5029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KAKO RADI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fotoaparata do galerije u četiri koraka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23317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65176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811780"/>
            <a:ext cx="320040" cy="32004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194560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74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 predaju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Mapa fotografija sa svake točke na stazi — bez promjene načina rada fotografa.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182112" y="3931920"/>
            <a:ext cx="137160" cy="182880"/>
          </a:xfrm>
          <a:prstGeom prst="rtTriangl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392424" y="23317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6744" y="265176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4" y="28117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038344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3666744" y="3474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prepozna brojeve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3666744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pronađe startne brojeve na svakoj fotografiji i pročita ih. ~20.000 fotografija u jednom popodnevu.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6025896" y="3931920"/>
            <a:ext cx="137160" cy="182880"/>
          </a:xfrm>
          <a:prstGeom prst="rtTriangl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36208" y="23317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265176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548" y="2811780"/>
            <a:ext cx="320040" cy="3200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882128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510528" y="3474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 provjeri</a:t>
            </a:r>
            <a:endParaRPr lang="en-US" sz="1800" dirty="0"/>
          </a:p>
        </p:txBody>
      </p:sp>
      <p:sp>
        <p:nvSpPr>
          <p:cNvPr id="23" name="Text 18"/>
          <p:cNvSpPr txBox="1"/>
          <p:nvPr/>
        </p:nvSpPr>
        <p:spPr>
          <a:xfrm>
            <a:off x="6510528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Operater u aplikaciji za pregled jednim klikom potvrdi, ukloni ili doda broj.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8869680" y="3931920"/>
            <a:ext cx="137160" cy="182880"/>
          </a:xfrm>
          <a:prstGeom prst="rtTriangl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079992" y="2331720"/>
            <a:ext cx="2560320" cy="3383280"/>
          </a:xfrm>
          <a:prstGeom prst="roundRect">
            <a:avLst>
              <a:gd name="adj" fmla="val 357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9354312" y="2651760"/>
            <a:ext cx="640080" cy="64008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332" y="2811780"/>
            <a:ext cx="320040" cy="32004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0725912" y="26517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3"/>
          <p:cNvSpPr txBox="1"/>
          <p:nvPr/>
        </p:nvSpPr>
        <p:spPr>
          <a:xfrm>
            <a:off x="9354312" y="347472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Objava</a:t>
            </a:r>
            <a:endParaRPr lang="en-US" sz="1800" dirty="0"/>
          </a:p>
        </p:txBody>
      </p:sp>
      <p:sp>
        <p:nvSpPr>
          <p:cNvPr id="30" name="Text 24"/>
          <p:cNvSpPr txBox="1"/>
          <p:nvPr/>
        </p:nvSpPr>
        <p:spPr>
          <a:xfrm>
            <a:off x="9354312" y="4206240"/>
            <a:ext cx="2057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Rezultati utrke i fotografije objavljuju se na web stranici pod imenom utrke.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48640" y="5989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Kombinacija umjetne inteligencije i ljudske provjere daje točnost koju nijedan pristup ne postiže sam.</a:t>
            </a:r>
            <a:endParaRPr lang="en-US" sz="1300" dirty="0"/>
          </a:p>
        </p:txBody>
      </p:sp>
      <p:sp>
        <p:nvSpPr>
          <p:cNvPr id="32" name="Text 26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TRKAČE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Osobna galerija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70" y="1954530"/>
            <a:ext cx="251460" cy="2514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0160" y="181051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 trkača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1280160" y="21031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ciljno vrijeme, tempo, plasman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2823210"/>
            <a:ext cx="251460" cy="25146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280160" y="267919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Fotografije po točkama staze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1280160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starta do cilja, s vremenom snimanja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48640" y="356616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3691890"/>
            <a:ext cx="251460" cy="25146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280160" y="354787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Pregled i preuzimanje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1280160" y="38404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puna veličina, ime fotografa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" y="4560570"/>
            <a:ext cx="251460" cy="25146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80160" y="441655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Prilagođeno mobitelu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280160" y="4709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 odmah, bez instalacije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530352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" y="5429250"/>
            <a:ext cx="251460" cy="2514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280160" y="5285232"/>
            <a:ext cx="35661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Hrvatski i engleski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1280160" y="5577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domaće i strane trkače</a:t>
            </a:r>
            <a:endParaRPr lang="en-US" sz="1300" dirty="0"/>
          </a:p>
        </p:txBody>
      </p:sp>
      <p:pic>
        <p:nvPicPr>
          <p:cNvPr id="24" name="Image 5" descr="img/gallery_full.jp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49240" y="914400"/>
            <a:ext cx="6309360" cy="3943350"/>
          </a:xfrm>
          <a:prstGeom prst="rect">
            <a:avLst/>
          </a:prstGeom>
          <a:effectLst>
            <a:outerShdw sx="100000" sy="100000" kx="0" ky="0" algn="bl" rotWithShape="0" blurRad="152400" dist="38100" dir="5400000">
              <a:srgbClr val="0F172A">
                <a:alpha val="18000"/>
              </a:srgbClr>
            </a:outerShdw>
          </a:effectLst>
        </p:spPr>
      </p:pic>
      <p:sp>
        <p:nvSpPr>
          <p:cNvPr id="25" name="Text 17"/>
          <p:cNvSpPr txBox="1"/>
          <p:nvPr/>
        </p:nvSpPr>
        <p:spPr>
          <a:xfrm>
            <a:off x="5349240" y="4967478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Stvarni zaslon sustava (demo podaci)</a:t>
            </a:r>
            <a:endParaRPr lang="en-US" sz="1100" dirty="0"/>
          </a:p>
        </p:txBody>
      </p:sp>
      <p:sp>
        <p:nvSpPr>
          <p:cNvPr id="26" name="Text 18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 ORGANIZATORA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Vaša utrka, vaš brend — bez dodatnog posla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2061972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 imenom vaše utrke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358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Naziv, znak i boje utrke; brojači na naslovnici (finišeri, rekord staze, duljina).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9412" y="2061972"/>
            <a:ext cx="283464" cy="28346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29768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Uvoz službenih rezultata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297680" y="30358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od bilo kojeg mjerača vremena čita se automatski (HR i EN nazivi stupaca). Probni uvoz bez rizika.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8452" y="2061972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046720" y="265176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Ljudska kontrola kvalitete</a:t>
            </a:r>
            <a:endParaRPr lang="en-US" sz="1600" dirty="0"/>
          </a:p>
        </p:txBody>
      </p:sp>
      <p:sp>
        <p:nvSpPr>
          <p:cNvPr id="15" name="Text 10"/>
          <p:cNvSpPr txBox="1"/>
          <p:nvPr/>
        </p:nvSpPr>
        <p:spPr>
          <a:xfrm>
            <a:off x="8046720" y="303580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Aplikacija za pregled: potvrdi, ukloni ili dodaj broj jednim klikom. Napredak se sprema sam.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16052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02252"/>
            <a:ext cx="283464" cy="28346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48640" y="4892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Više utrka u jednom događaju</a:t>
            </a:r>
            <a:endParaRPr lang="en-US" sz="16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" y="52760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Maraton, polumaraton i utrka na 10 km, svaka sa svojom duljinom i tempom.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4297680" y="416052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9412" y="4302252"/>
            <a:ext cx="283464" cy="28346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297680" y="4892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Objava jednim prekidačem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297680" y="52760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Ništa nije javno dok ne odlučite. Tada je sve dostupno odmah.</a:t>
            </a:r>
            <a:endParaRPr lang="en-US" sz="1350" dirty="0"/>
          </a:p>
        </p:txBody>
      </p:sp>
      <p:sp>
        <p:nvSpPr>
          <p:cNvPr id="24" name="Shape 17"/>
          <p:cNvSpPr/>
          <p:nvPr/>
        </p:nvSpPr>
        <p:spPr>
          <a:xfrm>
            <a:off x="8046720" y="416052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452" y="4302252"/>
            <a:ext cx="283464" cy="283464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46720" y="48920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Vrijednost za partnere</a:t>
            </a:r>
            <a:endParaRPr lang="en-US" sz="1600" dirty="0"/>
          </a:p>
        </p:txBody>
      </p:sp>
      <p:sp>
        <p:nvSpPr>
          <p:cNvPr id="27" name="Text 19"/>
          <p:cNvSpPr txBox="1"/>
          <p:nvPr/>
        </p:nvSpPr>
        <p:spPr>
          <a:xfrm>
            <a:off x="8046720" y="5276088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Mjesto za vodeni žig i isticanje fotografa uz svaku fotografiju.</a:t>
            </a:r>
            <a:endParaRPr lang="en-US" sz="1350" dirty="0"/>
          </a:p>
        </p:txBody>
      </p:sp>
      <p:sp>
        <p:nvSpPr>
          <p:cNvPr id="28" name="Text 20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 BROJKAMA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Brzo, točno i spremno za veliku utrku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2042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98,5 %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točnost čitanja startnog broja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uz toleranciju jedne znamenke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55848" y="23774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2042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84448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 min</a:t>
            </a:r>
            <a:endParaRPr lang="en-US" sz="4600" dirty="0"/>
          </a:p>
        </p:txBody>
      </p:sp>
      <p:sp>
        <p:nvSpPr>
          <p:cNvPr id="10" name="Text 8"/>
          <p:cNvSpPr txBox="1"/>
          <p:nvPr/>
        </p:nvSpPr>
        <p:spPr>
          <a:xfrm>
            <a:off x="3584448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prepoznavanje za 20.000 fotografija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584448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jednoj grafičkoj kartici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63056" y="23774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2042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91656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1 s</a:t>
            </a:r>
            <a:endParaRPr lang="en-US" sz="4600" dirty="0"/>
          </a:p>
        </p:txBody>
      </p:sp>
      <p:sp>
        <p:nvSpPr>
          <p:cNvPr id="14" name="Text 12"/>
          <p:cNvSpPr txBox="1"/>
          <p:nvPr/>
        </p:nvSpPr>
        <p:spPr>
          <a:xfrm>
            <a:off x="6391656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 upisa broja do galerije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391656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mobitelu ili računalu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970264" y="2377440"/>
            <a:ext cx="2606040" cy="2926080"/>
          </a:xfrm>
          <a:prstGeom prst="roundRect">
            <a:avLst>
              <a:gd name="adj" fmla="val 3509"/>
            </a:avLst>
          </a:prstGeom>
          <a:solidFill>
            <a:srgbClr val="152042"/>
          </a:solidFill>
          <a:ln w="12700">
            <a:solidFill>
              <a:srgbClr val="24305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198864" y="269748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198864" y="39319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prepoznavanja lica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46634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 otisnuti startni broj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7607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Mjereno na namjerno teškom testnom skupu (smanjene web fotografije). Originali fotografa daju još bolje rezultate.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KAPACITET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Spreman za dan utrke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Najveći promet dolazi u satima nakon objave. Web stranica se poslužuje s Cloudflareove globalne mreže bez ograničenja, a pretraga je testirana na podacima velikog maratona.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~40.000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2834640" y="33192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pretraga na sat — izmjereno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2062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1.000+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2834640" y="42793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istovremenih posjetitelja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51663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7.000+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834640" y="523951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istovremenih uz planiranu optimizaciju</a:t>
            </a:r>
            <a:endParaRPr lang="en-US" sz="14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52160" y="914400"/>
          <a:ext cx="576072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PRIVATNOST I SIGURNOST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Privatnost ugrađena od prvog dana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8600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" y="2427732"/>
            <a:ext cx="283464" cy="2834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45920" y="2267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prepoznavanja lica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645920" y="26974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Fotografija se povezuje s trkačem isključivo preko otisnutog startnog broja. Nema biometrijskih podataka.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172200" y="19202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228600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3972" y="242773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69480" y="2267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Zaštićeni osobni podaci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7269480" y="26974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Popis trkača nije moguće preuzeti. Baza vraća samo podatke za traženi startni broj.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54864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434340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0412" y="448513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4592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Sigurna stranica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1645920" y="4754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Samo HTTPS, stroga sigurnosna zaglavlja, originali fotografija u privatnom spremištu.</a:t>
            </a:r>
            <a:endParaRPr lang="en-US" sz="1350" dirty="0"/>
          </a:p>
        </p:txBody>
      </p:sp>
      <p:sp>
        <p:nvSpPr>
          <p:cNvPr id="19" name="Shape 14"/>
          <p:cNvSpPr/>
          <p:nvPr/>
        </p:nvSpPr>
        <p:spPr>
          <a:xfrm>
            <a:off x="6172200" y="3977640"/>
            <a:ext cx="539496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92240" y="4343400"/>
            <a:ext cx="566928" cy="566928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3972" y="4485132"/>
            <a:ext cx="283464" cy="28346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269480" y="43251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GDPR dokumentacija</a:t>
            </a:r>
            <a:endParaRPr lang="en-US" sz="1700" dirty="0"/>
          </a:p>
        </p:txBody>
      </p:sp>
      <p:sp>
        <p:nvSpPr>
          <p:cNvPr id="23" name="Text 17"/>
          <p:cNvSpPr txBox="1"/>
          <p:nvPr/>
        </p:nvSpPr>
        <p:spPr>
          <a:xfrm>
            <a:off x="7269480" y="475488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Nacrti politike privatnosti, uvjeta korištenja, DPIA procjene i postupka za uklanjanje fotografija.</a:t>
            </a:r>
            <a:endParaRPr lang="en-US" sz="1350" dirty="0"/>
          </a:p>
        </p:txBody>
      </p:sp>
      <p:sp>
        <p:nvSpPr>
          <p:cNvPr id="24" name="Text 18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TEHNOLOGIJA I TROŠKOVI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Moderna tehnologija, minimalni troškovi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5120640" cy="804672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20240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obrada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2468880" y="1920240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YOLO11 · EasyOCR · PyTorch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907792"/>
            <a:ext cx="5120640" cy="804672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2907792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stranica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468880" y="2907792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· React · TypeScript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895344"/>
            <a:ext cx="5120640" cy="804672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" y="3895344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Podaci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468880" y="3895344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 · PostgreSQL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882896"/>
            <a:ext cx="5120640" cy="804672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4882896"/>
            <a:ext cx="16459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Isporuka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468880" y="4882896"/>
            <a:ext cx="31089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Cloudflare globalna mreža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943600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Bez vlastitih poslužitelja koje treba održavati. Obrada se radi na lokalnom računalu — bez skupog računala u oblaku.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309360" y="1920240"/>
            <a:ext cx="5349240" cy="4114800"/>
          </a:xfrm>
          <a:prstGeom prst="roundRect">
            <a:avLst>
              <a:gd name="adj" fmla="val 2222"/>
            </a:avLst>
          </a:prstGeom>
          <a:solidFill>
            <a:srgbClr val="0B1224"/>
          </a:solidFill>
          <a:ln w="12700">
            <a:solidFill>
              <a:srgbClr val="0B122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67512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MJESEČNI TROŠAK RADA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27889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stranica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278892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0 $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675120" y="3337560"/>
            <a:ext cx="4617720" cy="0"/>
          </a:xfrm>
          <a:prstGeom prst="line">
            <a:avLst/>
          </a:prstGeom>
          <a:noFill/>
          <a:ln w="12700">
            <a:solidFill>
              <a:srgbClr val="24305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675120" y="34472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Baza i spremište fotografija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9601200" y="3447288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25 $ / mj.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6675120" y="3995928"/>
            <a:ext cx="4617720" cy="0"/>
          </a:xfrm>
          <a:prstGeom prst="line">
            <a:avLst/>
          </a:prstGeom>
          <a:noFill/>
          <a:ln w="12700">
            <a:solidFill>
              <a:srgbClr val="24305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675120" y="4105656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Obrada fotografija (lokalni GPU)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4105656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0 $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675120" y="4654296"/>
            <a:ext cx="4617720" cy="0"/>
          </a:xfrm>
          <a:prstGeom prst="line">
            <a:avLst/>
          </a:prstGeom>
          <a:noFill/>
          <a:ln w="12700">
            <a:solidFill>
              <a:srgbClr val="24305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675120" y="4764024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provjera nesigurnih brojeva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9601200" y="4764024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nekoliko $ / utrci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675120" y="5312664"/>
            <a:ext cx="4617720" cy="0"/>
          </a:xfrm>
          <a:prstGeom prst="line">
            <a:avLst/>
          </a:prstGeom>
          <a:noFill/>
          <a:ln w="12700">
            <a:solidFill>
              <a:srgbClr val="24305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675120" y="5532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C9B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Prema javnim cjenicima Supabasea i Cloudflarea, rujan 2026.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3D6B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SLJEDEĆI KORACI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do prve utrke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514600"/>
            <a:ext cx="105156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240280"/>
            <a:ext cx="548640" cy="54864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Dogovor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5661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Fotografi, izvoz rezultata od mjerača vremena, vizualni identitet utrke.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337560" y="2240280"/>
            <a:ext cx="548640" cy="54864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33756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Priprema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337560" y="35661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Postavljanje stranice pod vašom domenom i brendom, pravni pregled dokumentacije.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26480" y="2240280"/>
            <a:ext cx="548640" cy="548640"/>
          </a:xfrm>
          <a:prstGeom prst="ellipse">
            <a:avLst/>
          </a:prstGeom>
          <a:solidFill>
            <a:srgbClr val="0F172A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35661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Probni događaj s demo podacima i test opterećenja prije dana utrke.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915400" y="2240280"/>
            <a:ext cx="548640" cy="548640"/>
          </a:xfrm>
          <a:prstGeom prst="ellipse">
            <a:avLst/>
          </a:prstGeom>
          <a:solidFill>
            <a:srgbClr val="3D6BFF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915400" y="22402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915400" y="30632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 utrke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8915400" y="3566160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Obrada i pregled fotografija, objava galerije trkačima.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9091"/>
            </a:avLst>
          </a:prstGeom>
          <a:solidFill>
            <a:srgbClr val="F3F6FB"/>
          </a:solidFill>
          <a:ln w="12700">
            <a:solidFill>
              <a:srgbClr val="F3F6F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14400" y="50749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Sustav radi već danas. </a:t>
            </a:r>
            <a:pPr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verziju možete isprobati odmah — upišite startni broj i pogledajte kako izgleda galerija trkača.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zg-47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949440" y="0"/>
            <a:ext cx="524225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49440" y="0"/>
            <a:ext cx="5242255" cy="6858000"/>
          </a:xfrm>
          <a:prstGeom prst="rect">
            <a:avLst/>
          </a:prstGeom>
          <a:solidFill>
            <a:srgbClr val="0B1224">
              <a:alpha val="55000"/>
            </a:srgbClr>
          </a:solidFill>
          <a:ln w="12700">
            <a:solidFill>
              <a:srgbClr val="0B1224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4864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C1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MARATHONOCR</a:t>
            </a:r>
            <a:endParaRPr lang="en-US" sz="11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01168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Hvala!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24612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Pitanja, demo uživo ili dogovor oko pilota na sljedećoj utrci.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443484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70" y="45605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44348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 Cavor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548640" y="5120640"/>
            <a:ext cx="502920" cy="502920"/>
          </a:xfrm>
          <a:prstGeom prst="ellipse">
            <a:avLst/>
          </a:prstGeom>
          <a:solidFill>
            <a:srgbClr val="3D6BFF"/>
          </a:solidFill>
          <a:ln w="12700">
            <a:solidFill>
              <a:srgbClr val="3D6BFF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" y="524637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280160" y="5120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bruno.cavor@gmail.com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MarathonOCR — pretraga fotografija po startnom broju</dc:title>
  <dc:subject>PptxGenJS Presentation</dc:subject>
  <dc:creator>Bruno Cavor</dc:creator>
  <cp:lastModifiedBy>Bruno Cavor</cp:lastModifiedBy>
  <cp:revision>1</cp:revision>
  <dcterms:created xsi:type="dcterms:W3CDTF">2026-09-23T16:29:10Z</dcterms:created>
  <dcterms:modified xsi:type="dcterms:W3CDTF">2026-09-23T16:29:10Z</dcterms:modified>
</cp:coreProperties>
</file>